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57" r:id="rId3"/>
    <p:sldId id="258" r:id="rId4"/>
    <p:sldId id="276" r:id="rId5"/>
    <p:sldId id="269" r:id="rId6"/>
    <p:sldId id="270" r:id="rId7"/>
    <p:sldId id="271" r:id="rId8"/>
    <p:sldId id="272" r:id="rId9"/>
    <p:sldId id="273" r:id="rId10"/>
    <p:sldId id="274" r:id="rId11"/>
    <p:sldId id="261" r:id="rId12"/>
    <p:sldId id="262" r:id="rId13"/>
    <p:sldId id="263" r:id="rId14"/>
    <p:sldId id="264" r:id="rId15"/>
    <p:sldId id="275" r:id="rId16"/>
    <p:sldId id="265" r:id="rId17"/>
    <p:sldId id="26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025"/>
    <p:restoredTop sz="96405"/>
  </p:normalViewPr>
  <p:slideViewPr>
    <p:cSldViewPr snapToGrid="0">
      <p:cViewPr varScale="1">
        <p:scale>
          <a:sx n="131" d="100"/>
          <a:sy n="131" d="100"/>
        </p:scale>
        <p:origin x="33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9AB3A824-1A51-4B26-AD58-A6D8E14F6C04}" type="datetimeFigureOut">
              <a:rPr lang="en-US" smtClean="0"/>
              <a:t>3/15/25</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8579124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D162C4-EDD9-4389-A98B-B87ECEA2A816}" type="datetimeFigureOut">
              <a:rPr lang="en-US" smtClean="0"/>
              <a:t>3/15/25</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08280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3E5059C3-6A89-4494-99FF-5A4D6FFD50EB}" type="datetimeFigureOut">
              <a:rPr lang="en-US" smtClean="0"/>
              <a:t>3/15/25</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5137997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CA954B2F-12DE-47F5-8894-472B206D2E1E}" type="datetimeFigureOut">
              <a:rPr lang="en-US" smtClean="0"/>
              <a:t>3/15/25</a:t>
            </a:fld>
            <a:endParaRPr lang="en-US" dirty="0"/>
          </a:p>
        </p:txBody>
      </p:sp>
      <p:sp>
        <p:nvSpPr>
          <p:cNvPr id="9" name="Footer Placeholder 8"/>
          <p:cNvSpPr>
            <a:spLocks noGrp="1"/>
          </p:cNvSpPr>
          <p:nvPr>
            <p:ph type="ftr" sz="quarter" idx="11"/>
          </p:nvPr>
        </p:nvSpPr>
        <p:spPr/>
        <p:txBody>
          <a:bodyPr/>
          <a:lstStyle/>
          <a:p>
            <a:r>
              <a:rPr lang="en-US"/>
              <a:t>
              </a:t>
            </a:r>
            <a:endParaRPr lang="en-US" dirty="0"/>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89396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3CBC1C18-307B-4F68-A007-B5B542270E8D}" type="datetimeFigureOut">
              <a:rPr lang="en-US" smtClean="0"/>
              <a:t>3/15/25</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71961128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3/15/25</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3766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D9284-D300-4297-87F7-E791DCC15DB1}" type="datetimeFigureOut">
              <a:rPr lang="en-US" smtClean="0"/>
              <a:t>3/15/25</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10305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37D525BB-DA17-4BA0-B3C8-3AC3ABC827E6}" type="datetimeFigureOut">
              <a:rPr lang="en-US" smtClean="0"/>
              <a:t>3/15/25</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r>
              <a:rPr lang="en-US"/>
              <a:t>
              </a:t>
            </a:r>
            <a:endParaRPr lang="en-US" dirty="0"/>
          </a:p>
        </p:txBody>
      </p:sp>
      <p:sp>
        <p:nvSpPr>
          <p:cNvPr id="11" name="Slide Number Placeholder 10"/>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43652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B16C4C9A-3960-41CF-A4E9-2A8FB932454B}" type="datetimeFigureOut">
              <a:rPr lang="en-US" smtClean="0"/>
              <a:t>3/15/25</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r>
              <a:rPr lang="en-US"/>
              <a:t>
              </a:t>
            </a:r>
            <a:endParaRPr lang="en-US" dirty="0"/>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377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3/15/25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38654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3/15/25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05888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3CBC1C18-307B-4F68-A007-B5B542270E8D}" type="datetimeFigureOut">
              <a:rPr lang="en-US" smtClean="0"/>
              <a:t>3/15/25</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r>
              <a:rPr lang="en-US"/>
              <a:t>
              </a:t>
            </a:r>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3897423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hyperlink" Target="https://www.kaggle.com/datasets/ziya07/ev-battery-charging-data"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573E1-B1AF-F56E-658F-9402C07A9802}"/>
              </a:ext>
            </a:extLst>
          </p:cNvPr>
          <p:cNvSpPr>
            <a:spLocks noGrp="1"/>
          </p:cNvSpPr>
          <p:nvPr>
            <p:ph type="ctrTitle"/>
          </p:nvPr>
        </p:nvSpPr>
        <p:spPr/>
        <p:txBody>
          <a:bodyPr/>
          <a:lstStyle/>
          <a:p>
            <a:r>
              <a:rPr lang="en-US" dirty="0"/>
              <a:t>Charging impacts for electric vehicles</a:t>
            </a:r>
          </a:p>
        </p:txBody>
      </p:sp>
      <p:sp>
        <p:nvSpPr>
          <p:cNvPr id="3" name="Subtitle 2">
            <a:extLst>
              <a:ext uri="{FF2B5EF4-FFF2-40B4-BE49-F238E27FC236}">
                <a16:creationId xmlns:a16="http://schemas.microsoft.com/office/drawing/2014/main" id="{3EB56865-28B8-7835-FF27-38BAF626A27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67590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CD309-016B-E833-ED86-9303C88B31FB}"/>
              </a:ext>
            </a:extLst>
          </p:cNvPr>
          <p:cNvSpPr>
            <a:spLocks noGrp="1"/>
          </p:cNvSpPr>
          <p:nvPr>
            <p:ph type="title"/>
          </p:nvPr>
        </p:nvSpPr>
        <p:spPr>
          <a:xfrm>
            <a:off x="1665172" y="808057"/>
            <a:ext cx="9509760" cy="1338796"/>
          </a:xfrm>
        </p:spPr>
        <p:txBody>
          <a:bodyPr>
            <a:noAutofit/>
          </a:bodyPr>
          <a:lstStyle/>
          <a:p>
            <a:r>
              <a:rPr lang="en-US" dirty="0"/>
              <a:t>What can EV consumers learn about battery charging?</a:t>
            </a:r>
          </a:p>
        </p:txBody>
      </p:sp>
      <p:sp>
        <p:nvSpPr>
          <p:cNvPr id="3" name="TextBox 2">
            <a:extLst>
              <a:ext uri="{FF2B5EF4-FFF2-40B4-BE49-F238E27FC236}">
                <a16:creationId xmlns:a16="http://schemas.microsoft.com/office/drawing/2014/main" id="{F58F9D50-A5A1-F502-C6BE-BFA062991082}"/>
              </a:ext>
            </a:extLst>
          </p:cNvPr>
          <p:cNvSpPr txBox="1"/>
          <p:nvPr/>
        </p:nvSpPr>
        <p:spPr>
          <a:xfrm>
            <a:off x="1665172" y="2865748"/>
            <a:ext cx="9509760" cy="1754326"/>
          </a:xfrm>
          <a:prstGeom prst="rect">
            <a:avLst/>
          </a:prstGeom>
          <a:noFill/>
        </p:spPr>
        <p:txBody>
          <a:bodyPr wrap="square" rtlCol="0">
            <a:spAutoFit/>
          </a:bodyPr>
          <a:lstStyle/>
          <a:p>
            <a:r>
              <a:rPr lang="en-US" dirty="0"/>
              <a:t>Elective Vehicle (EV) purchases have continued to grow since major adoption begin in the United States around 2010.  There is a growing concern of “battery charge anxiety” for consumers interested in purchasing an EV.</a:t>
            </a:r>
          </a:p>
          <a:p>
            <a:endParaRPr lang="en-US" dirty="0"/>
          </a:p>
          <a:p>
            <a:r>
              <a:rPr lang="en-US" dirty="0"/>
              <a:t>With this dataset, the goal is to explore what information can be learned </a:t>
            </a:r>
            <a:r>
              <a:rPr lang="en-US"/>
              <a:t>about charging </a:t>
            </a:r>
            <a:r>
              <a:rPr lang="en-US" dirty="0"/>
              <a:t>duration impacts for interested buyers to better understand. </a:t>
            </a:r>
          </a:p>
        </p:txBody>
      </p:sp>
    </p:spTree>
    <p:extLst>
      <p:ext uri="{BB962C8B-B14F-4D97-AF65-F5344CB8AC3E}">
        <p14:creationId xmlns:p14="http://schemas.microsoft.com/office/powerpoint/2010/main" val="1135066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65005-84A4-89FC-7EAC-C58A7DA86A13}"/>
              </a:ext>
            </a:extLst>
          </p:cNvPr>
          <p:cNvSpPr>
            <a:spLocks noGrp="1"/>
          </p:cNvSpPr>
          <p:nvPr>
            <p:ph type="title"/>
          </p:nvPr>
        </p:nvSpPr>
        <p:spPr/>
        <p:txBody>
          <a:bodyPr>
            <a:noAutofit/>
          </a:bodyPr>
          <a:lstStyle/>
          <a:p>
            <a:r>
              <a:rPr lang="en-US" dirty="0"/>
              <a:t>Dataset</a:t>
            </a:r>
          </a:p>
        </p:txBody>
      </p:sp>
      <p:sp>
        <p:nvSpPr>
          <p:cNvPr id="3" name="Content Placeholder 2">
            <a:extLst>
              <a:ext uri="{FF2B5EF4-FFF2-40B4-BE49-F238E27FC236}">
                <a16:creationId xmlns:a16="http://schemas.microsoft.com/office/drawing/2014/main" id="{BE0D04A7-8246-88A8-1312-517F4D252F94}"/>
              </a:ext>
            </a:extLst>
          </p:cNvPr>
          <p:cNvSpPr>
            <a:spLocks noGrp="1"/>
          </p:cNvSpPr>
          <p:nvPr>
            <p:ph idx="1"/>
          </p:nvPr>
        </p:nvSpPr>
        <p:spPr>
          <a:xfrm>
            <a:off x="2231136" y="2232691"/>
            <a:ext cx="7729728" cy="3960719"/>
          </a:xfrm>
        </p:spPr>
        <p:txBody>
          <a:bodyPr>
            <a:noAutofit/>
          </a:bodyPr>
          <a:lstStyle/>
          <a:p>
            <a:pPr marL="0" indent="0">
              <a:buNone/>
            </a:pPr>
            <a:r>
              <a:rPr lang="en-US" sz="1300" dirty="0">
                <a:solidFill>
                  <a:schemeClr val="tx1"/>
                </a:solidFill>
              </a:rPr>
              <a:t>EV battery charging characteristics and duration classification</a:t>
            </a:r>
          </a:p>
          <a:p>
            <a:pPr marL="0" indent="0">
              <a:buNone/>
            </a:pPr>
            <a:r>
              <a:rPr lang="en-US" sz="1400" dirty="0"/>
              <a:t>This dataset contains data related to the charging characteristics of electric vehicle (EV) batteries.  The dataset includes various factors affecting battery performance, degradation, and charging duration, along with the target variable representing the optimal charging duration classification.  The data is organized with both numerical and categorical features and is designed for analysis or prediction tasks.</a:t>
            </a:r>
            <a:endParaRPr lang="en-US" sz="1300" dirty="0">
              <a:solidFill>
                <a:schemeClr val="tx1"/>
              </a:solidFill>
            </a:endParaRPr>
          </a:p>
          <a:p>
            <a:pPr marL="0" indent="0">
              <a:buNone/>
            </a:pPr>
            <a:r>
              <a:rPr lang="en-US" sz="1300" dirty="0">
                <a:solidFill>
                  <a:schemeClr val="tx1"/>
                </a:solidFill>
                <a:hlinkClick r:id="rId2"/>
              </a:rPr>
              <a:t>https://www.kaggle.com/datasets/ziya07/ev-battery-charging-data</a:t>
            </a:r>
            <a:r>
              <a:rPr lang="en-US" sz="1300" dirty="0">
                <a:solidFill>
                  <a:schemeClr val="tx1"/>
                </a:solidFill>
              </a:rPr>
              <a:t> </a:t>
            </a:r>
          </a:p>
        </p:txBody>
      </p:sp>
    </p:spTree>
    <p:extLst>
      <p:ext uri="{BB962C8B-B14F-4D97-AF65-F5344CB8AC3E}">
        <p14:creationId xmlns:p14="http://schemas.microsoft.com/office/powerpoint/2010/main" val="98675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65005-84A4-89FC-7EAC-C58A7DA86A13}"/>
              </a:ext>
            </a:extLst>
          </p:cNvPr>
          <p:cNvSpPr>
            <a:spLocks noGrp="1"/>
          </p:cNvSpPr>
          <p:nvPr>
            <p:ph type="title"/>
          </p:nvPr>
        </p:nvSpPr>
        <p:spPr/>
        <p:txBody>
          <a:bodyPr>
            <a:noAutofit/>
          </a:bodyPr>
          <a:lstStyle/>
          <a:p>
            <a:pPr>
              <a:spcAft>
                <a:spcPts val="0"/>
              </a:spcAft>
            </a:pPr>
            <a:r>
              <a:rPr lang="en-US" dirty="0"/>
              <a:t>Targeted Dataset variables</a:t>
            </a:r>
          </a:p>
        </p:txBody>
      </p:sp>
      <p:sp>
        <p:nvSpPr>
          <p:cNvPr id="3" name="Content Placeholder 2">
            <a:extLst>
              <a:ext uri="{FF2B5EF4-FFF2-40B4-BE49-F238E27FC236}">
                <a16:creationId xmlns:a16="http://schemas.microsoft.com/office/drawing/2014/main" id="{BE0D04A7-8246-88A8-1312-517F4D252F94}"/>
              </a:ext>
            </a:extLst>
          </p:cNvPr>
          <p:cNvSpPr>
            <a:spLocks noGrp="1"/>
          </p:cNvSpPr>
          <p:nvPr>
            <p:ph idx="1"/>
          </p:nvPr>
        </p:nvSpPr>
        <p:spPr>
          <a:xfrm>
            <a:off x="2231136" y="2232691"/>
            <a:ext cx="7729728" cy="3960719"/>
          </a:xfrm>
        </p:spPr>
        <p:txBody>
          <a:bodyPr>
            <a:noAutofit/>
          </a:bodyPr>
          <a:lstStyle/>
          <a:p>
            <a:pPr marL="0" indent="0">
              <a:buNone/>
            </a:pPr>
            <a:r>
              <a:rPr lang="en-US" sz="1300" b="1" dirty="0">
                <a:solidFill>
                  <a:schemeClr val="tx1"/>
                </a:solidFill>
              </a:rPr>
              <a:t>SOC %</a:t>
            </a:r>
          </a:p>
          <a:p>
            <a:r>
              <a:rPr lang="en-US" sz="1300" dirty="0">
                <a:solidFill>
                  <a:schemeClr val="tx1"/>
                </a:solidFill>
              </a:rPr>
              <a:t>State-of-Charge of the EV battery, expressed as a percentage. This indicates the current charge level of the battery.</a:t>
            </a:r>
          </a:p>
          <a:p>
            <a:pPr marL="0" indent="0">
              <a:buNone/>
            </a:pPr>
            <a:r>
              <a:rPr lang="en-US" sz="1300" b="1" dirty="0">
                <a:solidFill>
                  <a:schemeClr val="tx1"/>
                </a:solidFill>
              </a:rPr>
              <a:t>Battery Temp (C*)</a:t>
            </a:r>
          </a:p>
          <a:p>
            <a:r>
              <a:rPr lang="en-US" sz="1300" dirty="0">
                <a:solidFill>
                  <a:schemeClr val="tx1"/>
                </a:solidFill>
              </a:rPr>
              <a:t>The temperature of the battery during charging, measured in degrees Celsius (°C).</a:t>
            </a:r>
          </a:p>
          <a:p>
            <a:pPr marL="0" indent="0">
              <a:buNone/>
            </a:pPr>
            <a:r>
              <a:rPr lang="en-US" sz="1300" b="1" dirty="0">
                <a:solidFill>
                  <a:schemeClr val="tx1"/>
                </a:solidFill>
              </a:rPr>
              <a:t>Ambient Temp (C*)</a:t>
            </a:r>
          </a:p>
          <a:p>
            <a:r>
              <a:rPr lang="en-US" sz="1300" dirty="0">
                <a:solidFill>
                  <a:schemeClr val="tx1"/>
                </a:solidFill>
              </a:rPr>
              <a:t>The surrounding temperature of the environment in which the EV is being charged.</a:t>
            </a:r>
          </a:p>
          <a:p>
            <a:pPr marL="0" indent="0">
              <a:buNone/>
            </a:pPr>
            <a:r>
              <a:rPr lang="en-US" sz="1300" b="1" dirty="0">
                <a:solidFill>
                  <a:schemeClr val="tx1"/>
                </a:solidFill>
              </a:rPr>
              <a:t>Charging Duration</a:t>
            </a:r>
          </a:p>
          <a:p>
            <a:r>
              <a:rPr lang="en-US" sz="1300" dirty="0">
                <a:solidFill>
                  <a:schemeClr val="tx1"/>
                </a:solidFill>
              </a:rPr>
              <a:t>The duration (in minutes) of the battery charging process.</a:t>
            </a:r>
          </a:p>
          <a:p>
            <a:pPr marL="0" indent="0">
              <a:buNone/>
            </a:pPr>
            <a:r>
              <a:rPr lang="en-US" sz="1300" b="1" dirty="0">
                <a:solidFill>
                  <a:schemeClr val="tx1"/>
                </a:solidFill>
              </a:rPr>
              <a:t>Degradation Rate %</a:t>
            </a:r>
          </a:p>
          <a:p>
            <a:r>
              <a:rPr lang="en-US" sz="1300" dirty="0">
                <a:solidFill>
                  <a:schemeClr val="tx1"/>
                </a:solidFill>
              </a:rPr>
              <a:t>A computed value representing the degradation rate of the battery, which affects its overall efficiency and charging capacity. This is calculated based on the charging duration, SOC, and battery temperature.</a:t>
            </a:r>
          </a:p>
          <a:p>
            <a:pPr marL="0" indent="0">
              <a:buNone/>
            </a:pPr>
            <a:r>
              <a:rPr lang="en-US" sz="1300" b="1" dirty="0">
                <a:solidFill>
                  <a:schemeClr val="tx1"/>
                </a:solidFill>
              </a:rPr>
              <a:t>Charging Cycles</a:t>
            </a:r>
          </a:p>
          <a:p>
            <a:r>
              <a:rPr lang="en-US" sz="1300" dirty="0">
                <a:solidFill>
                  <a:schemeClr val="tx1"/>
                </a:solidFill>
              </a:rPr>
              <a:t>The number of charging cycles the battery has undergone. A charging cycle is counted when the battery goes from full charge to empty and back to full charge.</a:t>
            </a:r>
          </a:p>
        </p:txBody>
      </p:sp>
    </p:spTree>
    <p:extLst>
      <p:ext uri="{BB962C8B-B14F-4D97-AF65-F5344CB8AC3E}">
        <p14:creationId xmlns:p14="http://schemas.microsoft.com/office/powerpoint/2010/main" val="4178201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65005-84A4-89FC-7EAC-C58A7DA86A13}"/>
              </a:ext>
            </a:extLst>
          </p:cNvPr>
          <p:cNvSpPr>
            <a:spLocks noGrp="1"/>
          </p:cNvSpPr>
          <p:nvPr>
            <p:ph type="title"/>
          </p:nvPr>
        </p:nvSpPr>
        <p:spPr/>
        <p:txBody>
          <a:bodyPr>
            <a:normAutofit/>
          </a:bodyPr>
          <a:lstStyle/>
          <a:p>
            <a:pPr>
              <a:spcAft>
                <a:spcPts val="0"/>
              </a:spcAft>
            </a:pPr>
            <a:r>
              <a:rPr lang="en-US" dirty="0">
                <a:effectLst/>
              </a:rPr>
              <a:t>State of charge</a:t>
            </a:r>
            <a:endParaRPr lang="en-US" dirty="0"/>
          </a:p>
        </p:txBody>
      </p:sp>
      <p:sp>
        <p:nvSpPr>
          <p:cNvPr id="3" name="Content Placeholder 2">
            <a:extLst>
              <a:ext uri="{FF2B5EF4-FFF2-40B4-BE49-F238E27FC236}">
                <a16:creationId xmlns:a16="http://schemas.microsoft.com/office/drawing/2014/main" id="{BE0D04A7-8246-88A8-1312-517F4D252F94}"/>
              </a:ext>
            </a:extLst>
          </p:cNvPr>
          <p:cNvSpPr>
            <a:spLocks noGrp="1"/>
          </p:cNvSpPr>
          <p:nvPr>
            <p:ph idx="1"/>
          </p:nvPr>
        </p:nvSpPr>
        <p:spPr>
          <a:xfrm>
            <a:off x="2231136" y="2638044"/>
            <a:ext cx="4527883" cy="4007852"/>
          </a:xfrm>
        </p:spPr>
        <p:txBody>
          <a:bodyPr>
            <a:normAutofit/>
          </a:bodyPr>
          <a:lstStyle/>
          <a:p>
            <a:pPr marL="0" indent="0">
              <a:buNone/>
            </a:pPr>
            <a:r>
              <a:rPr lang="en-US" dirty="0"/>
              <a:t>SOC Mean: 54.12</a:t>
            </a:r>
          </a:p>
          <a:p>
            <a:pPr marL="0" indent="0">
              <a:buNone/>
            </a:pPr>
            <a:r>
              <a:rPr lang="en-US" dirty="0"/>
              <a:t>SOC Variance: 691.29</a:t>
            </a:r>
          </a:p>
          <a:p>
            <a:pPr marL="0" indent="0">
              <a:buNone/>
            </a:pPr>
            <a:r>
              <a:rPr lang="en-US" dirty="0"/>
              <a:t>SOC Standard Deviation: 26.29</a:t>
            </a:r>
          </a:p>
          <a:p>
            <a:pPr marL="0" indent="0">
              <a:buNone/>
            </a:pPr>
            <a:r>
              <a:rPr lang="en-US" dirty="0"/>
              <a:t>SOC Mode: 0 10.416882 1 10.455543 2 10.496991 3 10.625692 4 10.827735 ... 995 99.145463 996 99.366832 997 99.697315 998 99.718683 999 99.974591</a:t>
            </a:r>
          </a:p>
          <a:p>
            <a:pPr marL="0" indent="0">
              <a:buNone/>
            </a:pPr>
            <a:endParaRPr lang="en-US" dirty="0"/>
          </a:p>
          <a:p>
            <a:pPr marL="0" indent="0">
              <a:buNone/>
            </a:pPr>
            <a:r>
              <a:rPr lang="en-US" dirty="0"/>
              <a:t>Values should range between 1 – 100.  Anything outside of that range should be removed or corrected.</a:t>
            </a:r>
          </a:p>
        </p:txBody>
      </p:sp>
      <p:pic>
        <p:nvPicPr>
          <p:cNvPr id="1025" name="Picture 1">
            <a:extLst>
              <a:ext uri="{FF2B5EF4-FFF2-40B4-BE49-F238E27FC236}">
                <a16:creationId xmlns:a16="http://schemas.microsoft.com/office/drawing/2014/main" id="{346F0100-C75C-C2F2-D96E-DB5E5CC3DE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6638" y="2524993"/>
            <a:ext cx="5121564" cy="41209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1205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65005-84A4-89FC-7EAC-C58A7DA86A13}"/>
              </a:ext>
            </a:extLst>
          </p:cNvPr>
          <p:cNvSpPr>
            <a:spLocks noGrp="1"/>
          </p:cNvSpPr>
          <p:nvPr>
            <p:ph type="title"/>
          </p:nvPr>
        </p:nvSpPr>
        <p:spPr/>
        <p:txBody>
          <a:bodyPr>
            <a:normAutofit/>
          </a:bodyPr>
          <a:lstStyle/>
          <a:p>
            <a:pPr>
              <a:spcAft>
                <a:spcPts val="0"/>
              </a:spcAft>
            </a:pPr>
            <a:r>
              <a:rPr lang="en-US" dirty="0">
                <a:effectLst/>
              </a:rPr>
              <a:t>Battery temperature (</a:t>
            </a:r>
            <a:r>
              <a:rPr lang="en-US" dirty="0"/>
              <a:t>°C</a:t>
            </a:r>
            <a:r>
              <a:rPr lang="en-US" dirty="0">
                <a:effectLst/>
              </a:rPr>
              <a:t>)</a:t>
            </a:r>
            <a:endParaRPr lang="en-US" dirty="0"/>
          </a:p>
        </p:txBody>
      </p:sp>
      <p:sp>
        <p:nvSpPr>
          <p:cNvPr id="3" name="Content Placeholder 2">
            <a:extLst>
              <a:ext uri="{FF2B5EF4-FFF2-40B4-BE49-F238E27FC236}">
                <a16:creationId xmlns:a16="http://schemas.microsoft.com/office/drawing/2014/main" id="{BE0D04A7-8246-88A8-1312-517F4D252F94}"/>
              </a:ext>
            </a:extLst>
          </p:cNvPr>
          <p:cNvSpPr>
            <a:spLocks noGrp="1"/>
          </p:cNvSpPr>
          <p:nvPr>
            <p:ph idx="1"/>
          </p:nvPr>
        </p:nvSpPr>
        <p:spPr>
          <a:xfrm>
            <a:off x="2231136" y="2638044"/>
            <a:ext cx="4226225" cy="4086016"/>
          </a:xfrm>
        </p:spPr>
        <p:txBody>
          <a:bodyPr/>
          <a:lstStyle/>
          <a:p>
            <a:pPr marL="0" indent="0">
              <a:buNone/>
            </a:pPr>
            <a:r>
              <a:rPr lang="en-US" dirty="0"/>
              <a:t>Batt Temp Mean: 29.81</a:t>
            </a:r>
          </a:p>
          <a:p>
            <a:pPr marL="0" indent="0">
              <a:buNone/>
            </a:pPr>
            <a:r>
              <a:rPr lang="en-US" dirty="0"/>
              <a:t>Batt Temp Variance: 32.83</a:t>
            </a:r>
          </a:p>
          <a:p>
            <a:pPr marL="0" indent="0">
              <a:buNone/>
            </a:pPr>
            <a:r>
              <a:rPr lang="en-US" dirty="0"/>
              <a:t>Batt Temp Standard Deviation: 5.73 </a:t>
            </a:r>
          </a:p>
          <a:p>
            <a:pPr marL="0" indent="0">
              <a:buNone/>
            </a:pPr>
            <a:r>
              <a:rPr lang="en-US" dirty="0"/>
              <a:t>Batt Temp Mode: 0 20.013068 1 20.039843 2 20.106270 3 20.127581 4 20.137559 ... 995 39.943647 996 39.944758 997 39.952566 998 39.977852 999 39.991154</a:t>
            </a:r>
          </a:p>
          <a:p>
            <a:pPr marL="0" indent="0">
              <a:buNone/>
            </a:pPr>
            <a:endParaRPr lang="en-US" dirty="0"/>
          </a:p>
          <a:p>
            <a:pPr marL="0" indent="0">
              <a:buNone/>
            </a:pPr>
            <a:r>
              <a:rPr lang="en-US" dirty="0"/>
              <a:t>Temperatures that are are physically unrealistic should be removed or corrected.</a:t>
            </a:r>
          </a:p>
        </p:txBody>
      </p:sp>
      <p:pic>
        <p:nvPicPr>
          <p:cNvPr id="2049" name="Picture 1">
            <a:extLst>
              <a:ext uri="{FF2B5EF4-FFF2-40B4-BE49-F238E27FC236}">
                <a16:creationId xmlns:a16="http://schemas.microsoft.com/office/drawing/2014/main" id="{F03550D5-77B3-B43F-2512-FD5EA201F9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7728" y="2498519"/>
            <a:ext cx="5118623" cy="411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7935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65005-84A4-89FC-7EAC-C58A7DA86A13}"/>
              </a:ext>
            </a:extLst>
          </p:cNvPr>
          <p:cNvSpPr>
            <a:spLocks noGrp="1"/>
          </p:cNvSpPr>
          <p:nvPr>
            <p:ph type="title"/>
          </p:nvPr>
        </p:nvSpPr>
        <p:spPr/>
        <p:txBody>
          <a:bodyPr>
            <a:normAutofit/>
          </a:bodyPr>
          <a:lstStyle/>
          <a:p>
            <a:pPr>
              <a:spcAft>
                <a:spcPts val="0"/>
              </a:spcAft>
            </a:pPr>
            <a:r>
              <a:rPr lang="en-US" dirty="0">
                <a:effectLst/>
              </a:rPr>
              <a:t>Ambient temperature (</a:t>
            </a:r>
            <a:r>
              <a:rPr lang="en-US" dirty="0"/>
              <a:t>°C</a:t>
            </a:r>
            <a:r>
              <a:rPr lang="en-US" dirty="0">
                <a:effectLst/>
              </a:rPr>
              <a:t>)</a:t>
            </a:r>
            <a:endParaRPr lang="en-US" dirty="0"/>
          </a:p>
        </p:txBody>
      </p:sp>
      <p:sp>
        <p:nvSpPr>
          <p:cNvPr id="3" name="Content Placeholder 2">
            <a:extLst>
              <a:ext uri="{FF2B5EF4-FFF2-40B4-BE49-F238E27FC236}">
                <a16:creationId xmlns:a16="http://schemas.microsoft.com/office/drawing/2014/main" id="{BE0D04A7-8246-88A8-1312-517F4D252F94}"/>
              </a:ext>
            </a:extLst>
          </p:cNvPr>
          <p:cNvSpPr>
            <a:spLocks noGrp="1"/>
          </p:cNvSpPr>
          <p:nvPr>
            <p:ph idx="1"/>
          </p:nvPr>
        </p:nvSpPr>
        <p:spPr>
          <a:xfrm>
            <a:off x="2231136" y="2638044"/>
            <a:ext cx="4235652" cy="4048308"/>
          </a:xfrm>
        </p:spPr>
        <p:txBody>
          <a:bodyPr>
            <a:normAutofit/>
          </a:bodyPr>
          <a:lstStyle/>
          <a:p>
            <a:pPr marL="0" indent="0">
              <a:buNone/>
            </a:pPr>
            <a:r>
              <a:rPr lang="en-US" dirty="0" err="1"/>
              <a:t>Amb</a:t>
            </a:r>
            <a:r>
              <a:rPr lang="en-US" dirty="0"/>
              <a:t> Temp Mean: 24.88</a:t>
            </a:r>
          </a:p>
          <a:p>
            <a:pPr marL="0" indent="0">
              <a:buNone/>
            </a:pPr>
            <a:r>
              <a:rPr lang="en-US" dirty="0" err="1"/>
              <a:t>Amb</a:t>
            </a:r>
            <a:r>
              <a:rPr lang="en-US" dirty="0"/>
              <a:t> Temp Variance: 32.90</a:t>
            </a:r>
          </a:p>
          <a:p>
            <a:pPr marL="0" indent="0">
              <a:buNone/>
            </a:pPr>
            <a:r>
              <a:rPr lang="en-US" dirty="0" err="1"/>
              <a:t>Amb</a:t>
            </a:r>
            <a:r>
              <a:rPr lang="en-US" dirty="0"/>
              <a:t> Temp Standard Deviation: 5.74 </a:t>
            </a:r>
          </a:p>
          <a:p>
            <a:pPr marL="0" indent="0">
              <a:buNone/>
            </a:pPr>
            <a:r>
              <a:rPr lang="en-US" dirty="0" err="1"/>
              <a:t>Amb</a:t>
            </a:r>
            <a:r>
              <a:rPr lang="en-US" dirty="0"/>
              <a:t> Temp Mode: 0 15.000614 1 15.004541 2 15.011959 3 15.018868 4 15.022242 ... 995 34.911378 996 34.914689 997 34.930526 998 34.938988 999 34.954988</a:t>
            </a:r>
          </a:p>
          <a:p>
            <a:pPr marL="0" indent="0">
              <a:buNone/>
            </a:pPr>
            <a:endParaRPr lang="en-US" dirty="0"/>
          </a:p>
          <a:p>
            <a:pPr marL="0" indent="0">
              <a:buNone/>
            </a:pPr>
            <a:r>
              <a:rPr lang="en-US" dirty="0"/>
              <a:t>Temperatures that are are physically unrealistic should be removed or corrected.</a:t>
            </a:r>
          </a:p>
          <a:p>
            <a:pPr marL="0" indent="0">
              <a:buNone/>
            </a:pPr>
            <a:endParaRPr lang="en-US" dirty="0"/>
          </a:p>
        </p:txBody>
      </p:sp>
      <p:pic>
        <p:nvPicPr>
          <p:cNvPr id="3073" name="Picture 1">
            <a:extLst>
              <a:ext uri="{FF2B5EF4-FFF2-40B4-BE49-F238E27FC236}">
                <a16:creationId xmlns:a16="http://schemas.microsoft.com/office/drawing/2014/main" id="{E737DEA8-3F79-6B39-BC7A-09BFC6478F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7341" y="2498161"/>
            <a:ext cx="5118266" cy="411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566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65005-84A4-89FC-7EAC-C58A7DA86A13}"/>
              </a:ext>
            </a:extLst>
          </p:cNvPr>
          <p:cNvSpPr>
            <a:spLocks noGrp="1"/>
          </p:cNvSpPr>
          <p:nvPr>
            <p:ph type="title"/>
          </p:nvPr>
        </p:nvSpPr>
        <p:spPr/>
        <p:txBody>
          <a:bodyPr>
            <a:normAutofit/>
          </a:bodyPr>
          <a:lstStyle/>
          <a:p>
            <a:pPr>
              <a:spcAft>
                <a:spcPts val="0"/>
              </a:spcAft>
            </a:pPr>
            <a:r>
              <a:rPr lang="en-US" dirty="0">
                <a:effectLst/>
              </a:rPr>
              <a:t>Charging duration (min)</a:t>
            </a:r>
            <a:endParaRPr lang="en-US" dirty="0"/>
          </a:p>
        </p:txBody>
      </p:sp>
      <p:sp>
        <p:nvSpPr>
          <p:cNvPr id="3" name="Content Placeholder 2">
            <a:extLst>
              <a:ext uri="{FF2B5EF4-FFF2-40B4-BE49-F238E27FC236}">
                <a16:creationId xmlns:a16="http://schemas.microsoft.com/office/drawing/2014/main" id="{BE0D04A7-8246-88A8-1312-517F4D252F94}"/>
              </a:ext>
            </a:extLst>
          </p:cNvPr>
          <p:cNvSpPr>
            <a:spLocks noGrp="1"/>
          </p:cNvSpPr>
          <p:nvPr>
            <p:ph idx="1"/>
          </p:nvPr>
        </p:nvSpPr>
        <p:spPr>
          <a:xfrm>
            <a:off x="2231136" y="2638044"/>
            <a:ext cx="4499602" cy="3803211"/>
          </a:xfrm>
        </p:spPr>
        <p:txBody>
          <a:bodyPr>
            <a:normAutofit/>
          </a:bodyPr>
          <a:lstStyle/>
          <a:p>
            <a:pPr marL="0" indent="0">
              <a:buNone/>
            </a:pPr>
            <a:r>
              <a:rPr lang="en-US" dirty="0"/>
              <a:t>Charge Duration Mean: 69.85</a:t>
            </a:r>
          </a:p>
          <a:p>
            <a:pPr marL="0" indent="0">
              <a:buNone/>
            </a:pPr>
            <a:r>
              <a:rPr lang="en-US" dirty="0"/>
              <a:t>Charge Duration Variance: 836.34 </a:t>
            </a:r>
          </a:p>
          <a:p>
            <a:pPr marL="0" indent="0">
              <a:buNone/>
            </a:pPr>
            <a:r>
              <a:rPr lang="en-US" dirty="0"/>
              <a:t>Charge Duration Standard Deviation: 28.92 </a:t>
            </a:r>
          </a:p>
          <a:p>
            <a:pPr marL="0" indent="0">
              <a:buNone/>
            </a:pPr>
            <a:r>
              <a:rPr lang="en-US" dirty="0"/>
              <a:t>Charge Duration Mode: 0 20.618382 1 20.709181 2 20.735304 3 20.746314 4 20.861900 ... 995 119.564518 996 119.622449 997 119.767226 998 119.879294 999 119.935030</a:t>
            </a:r>
          </a:p>
          <a:p>
            <a:pPr marL="0" indent="0">
              <a:buNone/>
            </a:pPr>
            <a:endParaRPr lang="en-US" dirty="0"/>
          </a:p>
          <a:p>
            <a:pPr marL="0" indent="0">
              <a:buNone/>
            </a:pPr>
            <a:r>
              <a:rPr lang="en-US" dirty="0"/>
              <a:t>Any outliers should be reviewed further to understand reasoning for these extremes.</a:t>
            </a:r>
          </a:p>
        </p:txBody>
      </p:sp>
      <p:pic>
        <p:nvPicPr>
          <p:cNvPr id="4097" name="Picture 1">
            <a:extLst>
              <a:ext uri="{FF2B5EF4-FFF2-40B4-BE49-F238E27FC236}">
                <a16:creationId xmlns:a16="http://schemas.microsoft.com/office/drawing/2014/main" id="{9E6FFD18-ABF2-E701-0903-9CD9BA1EE6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0" y="2499270"/>
            <a:ext cx="5116817" cy="4117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8250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65005-84A4-89FC-7EAC-C58A7DA86A13}"/>
              </a:ext>
            </a:extLst>
          </p:cNvPr>
          <p:cNvSpPr>
            <a:spLocks noGrp="1"/>
          </p:cNvSpPr>
          <p:nvPr>
            <p:ph type="title"/>
          </p:nvPr>
        </p:nvSpPr>
        <p:spPr/>
        <p:txBody>
          <a:bodyPr>
            <a:normAutofit/>
          </a:bodyPr>
          <a:lstStyle/>
          <a:p>
            <a:pPr>
              <a:spcAft>
                <a:spcPts val="0"/>
              </a:spcAft>
            </a:pPr>
            <a:r>
              <a:rPr lang="en-US" dirty="0">
                <a:effectLst/>
              </a:rPr>
              <a:t>Degradation rate %</a:t>
            </a:r>
            <a:endParaRPr lang="en-US" dirty="0"/>
          </a:p>
        </p:txBody>
      </p:sp>
      <p:sp>
        <p:nvSpPr>
          <p:cNvPr id="3" name="Content Placeholder 2">
            <a:extLst>
              <a:ext uri="{FF2B5EF4-FFF2-40B4-BE49-F238E27FC236}">
                <a16:creationId xmlns:a16="http://schemas.microsoft.com/office/drawing/2014/main" id="{BE0D04A7-8246-88A8-1312-517F4D252F94}"/>
              </a:ext>
            </a:extLst>
          </p:cNvPr>
          <p:cNvSpPr>
            <a:spLocks noGrp="1"/>
          </p:cNvSpPr>
          <p:nvPr>
            <p:ph idx="1"/>
          </p:nvPr>
        </p:nvSpPr>
        <p:spPr>
          <a:xfrm>
            <a:off x="2231136" y="2638044"/>
            <a:ext cx="4056542" cy="4020029"/>
          </a:xfrm>
        </p:spPr>
        <p:txBody>
          <a:bodyPr>
            <a:normAutofit lnSpcReduction="10000"/>
          </a:bodyPr>
          <a:lstStyle/>
          <a:p>
            <a:pPr marL="0" indent="0">
              <a:buNone/>
            </a:pPr>
            <a:r>
              <a:rPr lang="en-US" dirty="0"/>
              <a:t>Degradation Rate Mean: 10.02</a:t>
            </a:r>
          </a:p>
          <a:p>
            <a:pPr marL="0" indent="0">
              <a:buNone/>
            </a:pPr>
            <a:r>
              <a:rPr lang="en-US" dirty="0"/>
              <a:t>Degradation Rate Variance: 7.27</a:t>
            </a:r>
          </a:p>
          <a:p>
            <a:pPr marL="0" indent="0">
              <a:buNone/>
            </a:pPr>
            <a:r>
              <a:rPr lang="en-US" dirty="0"/>
              <a:t>Degradation Rate Standard Deviation: 2.70 </a:t>
            </a:r>
          </a:p>
          <a:p>
            <a:pPr marL="0" indent="0">
              <a:buNone/>
            </a:pPr>
            <a:r>
              <a:rPr lang="en-US" dirty="0"/>
              <a:t>Degradation Rate Mode: 0 4.102433 1 4.126044 2 4.259881 3 4.312585 4 4.418449 ... 995 15.861537 996 15.973104 997 16.006314 998 16.013058 999 16.042788</a:t>
            </a:r>
          </a:p>
          <a:p>
            <a:pPr marL="0" indent="0">
              <a:buNone/>
            </a:pPr>
            <a:endParaRPr lang="en-US" dirty="0"/>
          </a:p>
          <a:p>
            <a:pPr marL="0" indent="0">
              <a:buNone/>
            </a:pPr>
            <a:r>
              <a:rPr lang="en-US" dirty="0"/>
              <a:t>Ideally, these values should be small.  Extreme values should be evaluated further.</a:t>
            </a:r>
          </a:p>
        </p:txBody>
      </p:sp>
      <p:pic>
        <p:nvPicPr>
          <p:cNvPr id="5121" name="Picture 1">
            <a:extLst>
              <a:ext uri="{FF2B5EF4-FFF2-40B4-BE49-F238E27FC236}">
                <a16:creationId xmlns:a16="http://schemas.microsoft.com/office/drawing/2014/main" id="{28896D5D-48AC-79F6-C8D9-0E82FA21E9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9090" y="2441514"/>
            <a:ext cx="5118322" cy="41182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9313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65005-84A4-89FC-7EAC-C58A7DA86A13}"/>
              </a:ext>
            </a:extLst>
          </p:cNvPr>
          <p:cNvSpPr>
            <a:spLocks noGrp="1"/>
          </p:cNvSpPr>
          <p:nvPr>
            <p:ph type="title"/>
          </p:nvPr>
        </p:nvSpPr>
        <p:spPr/>
        <p:txBody>
          <a:bodyPr>
            <a:normAutofit/>
          </a:bodyPr>
          <a:lstStyle/>
          <a:p>
            <a:pPr>
              <a:spcAft>
                <a:spcPts val="0"/>
              </a:spcAft>
            </a:pPr>
            <a:r>
              <a:rPr lang="en-US" dirty="0">
                <a:effectLst/>
              </a:rPr>
              <a:t>Charging cycles</a:t>
            </a:r>
            <a:endParaRPr lang="en-US" dirty="0"/>
          </a:p>
        </p:txBody>
      </p:sp>
      <p:sp>
        <p:nvSpPr>
          <p:cNvPr id="3" name="Content Placeholder 2">
            <a:extLst>
              <a:ext uri="{FF2B5EF4-FFF2-40B4-BE49-F238E27FC236}">
                <a16:creationId xmlns:a16="http://schemas.microsoft.com/office/drawing/2014/main" id="{BE0D04A7-8246-88A8-1312-517F4D252F94}"/>
              </a:ext>
            </a:extLst>
          </p:cNvPr>
          <p:cNvSpPr>
            <a:spLocks noGrp="1"/>
          </p:cNvSpPr>
          <p:nvPr>
            <p:ph idx="1"/>
          </p:nvPr>
        </p:nvSpPr>
        <p:spPr>
          <a:xfrm>
            <a:off x="2231136" y="2638044"/>
            <a:ext cx="4405334" cy="3101983"/>
          </a:xfrm>
        </p:spPr>
        <p:txBody>
          <a:bodyPr/>
          <a:lstStyle/>
          <a:p>
            <a:pPr marL="0" indent="0">
              <a:buNone/>
            </a:pPr>
            <a:r>
              <a:rPr lang="en-US" dirty="0"/>
              <a:t>Charging Cycle Mean: 556.56 </a:t>
            </a:r>
          </a:p>
          <a:p>
            <a:pPr marL="0" indent="0">
              <a:buNone/>
            </a:pPr>
            <a:r>
              <a:rPr lang="en-US" dirty="0"/>
              <a:t>Charging Cycle Variance: 69570.95</a:t>
            </a:r>
          </a:p>
          <a:p>
            <a:pPr marL="0" indent="0">
              <a:buNone/>
            </a:pPr>
            <a:r>
              <a:rPr lang="en-US" dirty="0"/>
              <a:t>Charging Cycle Standard Deviation: 263.76</a:t>
            </a:r>
          </a:p>
          <a:p>
            <a:pPr marL="0" indent="0">
              <a:buNone/>
            </a:pPr>
            <a:r>
              <a:rPr lang="en-US" dirty="0"/>
              <a:t>Charging Cycle Mode: 0 516</a:t>
            </a:r>
          </a:p>
          <a:p>
            <a:pPr marL="0" indent="0">
              <a:buNone/>
            </a:pPr>
            <a:endParaRPr lang="en-US" dirty="0"/>
          </a:p>
          <a:p>
            <a:pPr marL="0" indent="0">
              <a:buNone/>
            </a:pPr>
            <a:r>
              <a:rPr lang="en-US" dirty="0"/>
              <a:t>Outliers should be evaluated for any data entry errors.</a:t>
            </a:r>
          </a:p>
        </p:txBody>
      </p:sp>
      <p:pic>
        <p:nvPicPr>
          <p:cNvPr id="6145" name="Picture 1">
            <a:extLst>
              <a:ext uri="{FF2B5EF4-FFF2-40B4-BE49-F238E27FC236}">
                <a16:creationId xmlns:a16="http://schemas.microsoft.com/office/drawing/2014/main" id="{43A91C71-9B75-4C6B-3060-F32AA831C2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0450" y="2473234"/>
            <a:ext cx="5121632" cy="4120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2000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65005-84A4-89FC-7EAC-C58A7DA86A13}"/>
              </a:ext>
            </a:extLst>
          </p:cNvPr>
          <p:cNvSpPr>
            <a:spLocks noGrp="1"/>
          </p:cNvSpPr>
          <p:nvPr>
            <p:ph type="title"/>
          </p:nvPr>
        </p:nvSpPr>
        <p:spPr/>
        <p:txBody>
          <a:bodyPr>
            <a:normAutofit/>
          </a:bodyPr>
          <a:lstStyle/>
          <a:p>
            <a:pPr>
              <a:spcAft>
                <a:spcPts val="0"/>
              </a:spcAft>
            </a:pPr>
            <a:r>
              <a:rPr lang="en-US" dirty="0"/>
              <a:t>compare two scenarios in your data using a PMF</a:t>
            </a:r>
          </a:p>
        </p:txBody>
      </p:sp>
      <p:sp>
        <p:nvSpPr>
          <p:cNvPr id="3" name="Content Placeholder 2">
            <a:extLst>
              <a:ext uri="{FF2B5EF4-FFF2-40B4-BE49-F238E27FC236}">
                <a16:creationId xmlns:a16="http://schemas.microsoft.com/office/drawing/2014/main" id="{BE0D04A7-8246-88A8-1312-517F4D252F94}"/>
              </a:ext>
            </a:extLst>
          </p:cNvPr>
          <p:cNvSpPr>
            <a:spLocks noGrp="1"/>
          </p:cNvSpPr>
          <p:nvPr>
            <p:ph idx="1"/>
          </p:nvPr>
        </p:nvSpPr>
        <p:spPr>
          <a:xfrm>
            <a:off x="2231136" y="2638044"/>
            <a:ext cx="2890085" cy="3101983"/>
          </a:xfrm>
        </p:spPr>
        <p:txBody>
          <a:bodyPr/>
          <a:lstStyle/>
          <a:p>
            <a:pPr marL="0" indent="0">
              <a:buNone/>
            </a:pPr>
            <a:r>
              <a:rPr lang="en-US" dirty="0"/>
              <a:t>Both PMFs are similar.  Model B has higher peaks, which means it tends to have those number of charging cycles more frequently.  </a:t>
            </a:r>
          </a:p>
        </p:txBody>
      </p:sp>
      <p:pic>
        <p:nvPicPr>
          <p:cNvPr id="7169" name="Picture 1">
            <a:extLst>
              <a:ext uri="{FF2B5EF4-FFF2-40B4-BE49-F238E27FC236}">
                <a16:creationId xmlns:a16="http://schemas.microsoft.com/office/drawing/2014/main" id="{87D11D17-E0B2-16D9-57A5-25446841CD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8770" y="2354938"/>
            <a:ext cx="6790653" cy="4283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0238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65005-84A4-89FC-7EAC-C58A7DA86A13}"/>
              </a:ext>
            </a:extLst>
          </p:cNvPr>
          <p:cNvSpPr>
            <a:spLocks noGrp="1"/>
          </p:cNvSpPr>
          <p:nvPr>
            <p:ph type="title"/>
          </p:nvPr>
        </p:nvSpPr>
        <p:spPr/>
        <p:txBody>
          <a:bodyPr>
            <a:normAutofit/>
          </a:bodyPr>
          <a:lstStyle/>
          <a:p>
            <a:pPr>
              <a:spcAft>
                <a:spcPts val="0"/>
              </a:spcAft>
            </a:pPr>
            <a:r>
              <a:rPr lang="en-US" dirty="0"/>
              <a:t>Create a CDF with one of your variables</a:t>
            </a:r>
          </a:p>
        </p:txBody>
      </p:sp>
      <p:sp>
        <p:nvSpPr>
          <p:cNvPr id="3" name="Content Placeholder 2">
            <a:extLst>
              <a:ext uri="{FF2B5EF4-FFF2-40B4-BE49-F238E27FC236}">
                <a16:creationId xmlns:a16="http://schemas.microsoft.com/office/drawing/2014/main" id="{BE0D04A7-8246-88A8-1312-517F4D252F94}"/>
              </a:ext>
            </a:extLst>
          </p:cNvPr>
          <p:cNvSpPr>
            <a:spLocks noGrp="1"/>
          </p:cNvSpPr>
          <p:nvPr>
            <p:ph idx="1"/>
          </p:nvPr>
        </p:nvSpPr>
        <p:spPr>
          <a:xfrm>
            <a:off x="2231136" y="2638044"/>
            <a:ext cx="2759293" cy="3101983"/>
          </a:xfrm>
        </p:spPr>
        <p:txBody>
          <a:bodyPr/>
          <a:lstStyle/>
          <a:p>
            <a:pPr marL="0" indent="0">
              <a:buNone/>
            </a:pPr>
            <a:r>
              <a:rPr lang="en-US" dirty="0"/>
              <a:t>Model A vehicles show to charge a slightly better than the Model B vehicles.</a:t>
            </a:r>
          </a:p>
          <a:p>
            <a:pPr marL="0" indent="0">
              <a:buNone/>
            </a:pPr>
            <a:r>
              <a:rPr lang="en-US" dirty="0"/>
              <a:t>Their slopes are similar.  Further analysis on Model A may be warranted to understand why it outperforms Model B.</a:t>
            </a:r>
          </a:p>
        </p:txBody>
      </p:sp>
      <p:pic>
        <p:nvPicPr>
          <p:cNvPr id="8193" name="Picture 1">
            <a:extLst>
              <a:ext uri="{FF2B5EF4-FFF2-40B4-BE49-F238E27FC236}">
                <a16:creationId xmlns:a16="http://schemas.microsoft.com/office/drawing/2014/main" id="{346CF806-D4EA-AE47-64F8-A08D6A315D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0429" y="2262433"/>
            <a:ext cx="6998109" cy="4508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022700"/>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65005-84A4-89FC-7EAC-C58A7DA86A13}"/>
              </a:ext>
            </a:extLst>
          </p:cNvPr>
          <p:cNvSpPr>
            <a:spLocks noGrp="1"/>
          </p:cNvSpPr>
          <p:nvPr>
            <p:ph type="title"/>
          </p:nvPr>
        </p:nvSpPr>
        <p:spPr/>
        <p:txBody>
          <a:bodyPr>
            <a:normAutofit fontScale="90000"/>
          </a:bodyPr>
          <a:lstStyle/>
          <a:p>
            <a:pPr>
              <a:spcAft>
                <a:spcPts val="0"/>
              </a:spcAft>
            </a:pPr>
            <a:br>
              <a:rPr lang="en-US" dirty="0">
                <a:effectLst/>
              </a:rPr>
            </a:br>
            <a:r>
              <a:rPr lang="en-US" sz="3100" dirty="0"/>
              <a:t>analytical distribution</a:t>
            </a:r>
            <a:br>
              <a:rPr lang="en-US" sz="3100" dirty="0"/>
            </a:br>
            <a:endParaRPr lang="en-US" sz="3100" dirty="0"/>
          </a:p>
        </p:txBody>
      </p:sp>
      <p:sp>
        <p:nvSpPr>
          <p:cNvPr id="3" name="Content Placeholder 2">
            <a:extLst>
              <a:ext uri="{FF2B5EF4-FFF2-40B4-BE49-F238E27FC236}">
                <a16:creationId xmlns:a16="http://schemas.microsoft.com/office/drawing/2014/main" id="{BE0D04A7-8246-88A8-1312-517F4D252F94}"/>
              </a:ext>
            </a:extLst>
          </p:cNvPr>
          <p:cNvSpPr>
            <a:spLocks noGrp="1"/>
          </p:cNvSpPr>
          <p:nvPr>
            <p:ph idx="1"/>
          </p:nvPr>
        </p:nvSpPr>
        <p:spPr>
          <a:xfrm>
            <a:off x="2081719" y="2638044"/>
            <a:ext cx="2848619" cy="3743301"/>
          </a:xfrm>
        </p:spPr>
        <p:txBody>
          <a:bodyPr/>
          <a:lstStyle/>
          <a:p>
            <a:pPr marL="0" indent="0">
              <a:buNone/>
            </a:pPr>
            <a:r>
              <a:rPr lang="en-US" dirty="0"/>
              <a:t>Mean = 69.85</a:t>
            </a:r>
          </a:p>
          <a:p>
            <a:pPr marL="0" indent="0">
              <a:buNone/>
            </a:pPr>
            <a:r>
              <a:rPr lang="en-US" dirty="0"/>
              <a:t>Standard Deviation = 28.91</a:t>
            </a:r>
          </a:p>
          <a:p>
            <a:pPr marL="0" indent="0">
              <a:buNone/>
            </a:pPr>
            <a:r>
              <a:rPr lang="en-US" dirty="0"/>
              <a:t>There is not a normal distribution.  There are multiple peaks, leading us to believe that further analysis is required to understand impacts to Charging Duration, such as battery capacity, technology, and make.</a:t>
            </a:r>
          </a:p>
        </p:txBody>
      </p:sp>
      <p:pic>
        <p:nvPicPr>
          <p:cNvPr id="9217" name="Picture 1">
            <a:extLst>
              <a:ext uri="{FF2B5EF4-FFF2-40B4-BE49-F238E27FC236}">
                <a16:creationId xmlns:a16="http://schemas.microsoft.com/office/drawing/2014/main" id="{023C85AD-3D27-65D7-61A1-96FE62E80F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0338" y="2290712"/>
            <a:ext cx="7117117" cy="4489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2310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65005-84A4-89FC-7EAC-C58A7DA86A13}"/>
              </a:ext>
            </a:extLst>
          </p:cNvPr>
          <p:cNvSpPr>
            <a:spLocks noGrp="1"/>
          </p:cNvSpPr>
          <p:nvPr>
            <p:ph type="title"/>
          </p:nvPr>
        </p:nvSpPr>
        <p:spPr/>
        <p:txBody>
          <a:bodyPr>
            <a:normAutofit/>
          </a:bodyPr>
          <a:lstStyle/>
          <a:p>
            <a:pPr>
              <a:spcAft>
                <a:spcPts val="0"/>
              </a:spcAft>
            </a:pPr>
            <a:r>
              <a:rPr lang="en-US" sz="2300" dirty="0"/>
              <a:t>Create two scatter plots comparing two variables and provide your analysis</a:t>
            </a:r>
          </a:p>
        </p:txBody>
      </p:sp>
      <p:sp>
        <p:nvSpPr>
          <p:cNvPr id="3" name="Content Placeholder 2">
            <a:extLst>
              <a:ext uri="{FF2B5EF4-FFF2-40B4-BE49-F238E27FC236}">
                <a16:creationId xmlns:a16="http://schemas.microsoft.com/office/drawing/2014/main" id="{BE0D04A7-8246-88A8-1312-517F4D252F94}"/>
              </a:ext>
            </a:extLst>
          </p:cNvPr>
          <p:cNvSpPr>
            <a:spLocks noGrp="1"/>
          </p:cNvSpPr>
          <p:nvPr>
            <p:ph idx="1"/>
          </p:nvPr>
        </p:nvSpPr>
        <p:spPr>
          <a:xfrm>
            <a:off x="2231135" y="2638044"/>
            <a:ext cx="3323359" cy="3912443"/>
          </a:xfrm>
        </p:spPr>
        <p:txBody>
          <a:bodyPr>
            <a:normAutofit/>
          </a:bodyPr>
          <a:lstStyle/>
          <a:p>
            <a:pPr marL="0" indent="0">
              <a:buNone/>
            </a:pPr>
            <a:r>
              <a:rPr lang="en-US" dirty="0"/>
              <a:t>Pearson Correlation (Charging Duration vs Charging Cycles): </a:t>
            </a:r>
          </a:p>
          <a:p>
            <a:pPr marL="0" indent="0">
              <a:buNone/>
            </a:pPr>
            <a:r>
              <a:rPr lang="en-US" dirty="0"/>
              <a:t>-0.01</a:t>
            </a:r>
          </a:p>
          <a:p>
            <a:pPr marL="0" indent="0">
              <a:buNone/>
            </a:pPr>
            <a:r>
              <a:rPr lang="en-US" dirty="0"/>
              <a:t>There is a week correlation.</a:t>
            </a:r>
          </a:p>
          <a:p>
            <a:pPr marL="0" indent="0">
              <a:buNone/>
            </a:pPr>
            <a:r>
              <a:rPr lang="en-US" dirty="0"/>
              <a:t>As you can see in the plot, there is a non-linear relationship between Charging Duration and Charging Cycles.</a:t>
            </a:r>
          </a:p>
          <a:p>
            <a:pPr marL="0" indent="0">
              <a:buNone/>
            </a:pPr>
            <a:r>
              <a:rPr lang="en-US" dirty="0"/>
              <a:t>Further analysis is needed to better understand this relationship.</a:t>
            </a:r>
          </a:p>
        </p:txBody>
      </p:sp>
      <p:pic>
        <p:nvPicPr>
          <p:cNvPr id="10241" name="Picture 1">
            <a:extLst>
              <a:ext uri="{FF2B5EF4-FFF2-40B4-BE49-F238E27FC236}">
                <a16:creationId xmlns:a16="http://schemas.microsoft.com/office/drawing/2014/main" id="{EE3A2CA7-6336-5436-4169-493AAACF7C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4494" y="3010486"/>
            <a:ext cx="6429487" cy="3540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48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65005-84A4-89FC-7EAC-C58A7DA86A13}"/>
              </a:ext>
            </a:extLst>
          </p:cNvPr>
          <p:cNvSpPr>
            <a:spLocks noGrp="1"/>
          </p:cNvSpPr>
          <p:nvPr>
            <p:ph type="title"/>
          </p:nvPr>
        </p:nvSpPr>
        <p:spPr/>
        <p:txBody>
          <a:bodyPr>
            <a:normAutofit fontScale="90000"/>
          </a:bodyPr>
          <a:lstStyle/>
          <a:p>
            <a:pPr>
              <a:spcAft>
                <a:spcPts val="0"/>
              </a:spcAft>
            </a:pPr>
            <a:r>
              <a:rPr lang="en-US" sz="2500" dirty="0"/>
              <a:t>Create two scatter plots comparing two variables and provide your analysis</a:t>
            </a:r>
          </a:p>
        </p:txBody>
      </p:sp>
      <p:sp>
        <p:nvSpPr>
          <p:cNvPr id="3" name="Content Placeholder 2">
            <a:extLst>
              <a:ext uri="{FF2B5EF4-FFF2-40B4-BE49-F238E27FC236}">
                <a16:creationId xmlns:a16="http://schemas.microsoft.com/office/drawing/2014/main" id="{BE0D04A7-8246-88A8-1312-517F4D252F94}"/>
              </a:ext>
            </a:extLst>
          </p:cNvPr>
          <p:cNvSpPr>
            <a:spLocks noGrp="1"/>
          </p:cNvSpPr>
          <p:nvPr>
            <p:ph idx="1"/>
          </p:nvPr>
        </p:nvSpPr>
        <p:spPr>
          <a:xfrm>
            <a:off x="2231136" y="2638044"/>
            <a:ext cx="3342813" cy="4012565"/>
          </a:xfrm>
        </p:spPr>
        <p:txBody>
          <a:bodyPr/>
          <a:lstStyle/>
          <a:p>
            <a:pPr marL="0" indent="0">
              <a:buNone/>
            </a:pPr>
            <a:r>
              <a:rPr lang="en-US" dirty="0"/>
              <a:t>Pearson Correlation (Charging Duration vs SOC):   -0.06</a:t>
            </a:r>
          </a:p>
          <a:p>
            <a:pPr marL="0" indent="0">
              <a:buNone/>
            </a:pPr>
            <a:r>
              <a:rPr lang="en-US" dirty="0"/>
              <a:t>There is a weak relationship.</a:t>
            </a:r>
          </a:p>
          <a:p>
            <a:pPr marL="0" indent="0">
              <a:buNone/>
            </a:pPr>
            <a:r>
              <a:rPr lang="en-US" dirty="0"/>
              <a:t>As you can see in the plot, there is a non-linear relationship between Charging Duration and State of Charge.</a:t>
            </a:r>
          </a:p>
          <a:p>
            <a:pPr marL="0" indent="0">
              <a:buNone/>
            </a:pPr>
            <a:r>
              <a:rPr lang="en-US" dirty="0"/>
              <a:t>Further analysis is needed to better understand this relationship.</a:t>
            </a:r>
          </a:p>
        </p:txBody>
      </p:sp>
      <p:pic>
        <p:nvPicPr>
          <p:cNvPr id="12289" name="Picture 1">
            <a:extLst>
              <a:ext uri="{FF2B5EF4-FFF2-40B4-BE49-F238E27FC236}">
                <a16:creationId xmlns:a16="http://schemas.microsoft.com/office/drawing/2014/main" id="{10A9AE74-D67B-FF5B-7E77-32FF26120B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3949" y="3111603"/>
            <a:ext cx="6427681" cy="3539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9628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65005-84A4-89FC-7EAC-C58A7DA86A13}"/>
              </a:ext>
            </a:extLst>
          </p:cNvPr>
          <p:cNvSpPr>
            <a:spLocks noGrp="1"/>
          </p:cNvSpPr>
          <p:nvPr>
            <p:ph type="title"/>
          </p:nvPr>
        </p:nvSpPr>
        <p:spPr/>
        <p:txBody>
          <a:bodyPr>
            <a:normAutofit/>
          </a:bodyPr>
          <a:lstStyle/>
          <a:p>
            <a:pPr>
              <a:spcAft>
                <a:spcPts val="0"/>
              </a:spcAft>
            </a:pPr>
            <a:r>
              <a:rPr lang="en-US" dirty="0">
                <a:effectLst/>
              </a:rPr>
              <a:t>Hypothesis test</a:t>
            </a:r>
            <a:endParaRPr lang="en-US" dirty="0"/>
          </a:p>
        </p:txBody>
      </p:sp>
      <p:sp>
        <p:nvSpPr>
          <p:cNvPr id="3" name="Content Placeholder 2">
            <a:extLst>
              <a:ext uri="{FF2B5EF4-FFF2-40B4-BE49-F238E27FC236}">
                <a16:creationId xmlns:a16="http://schemas.microsoft.com/office/drawing/2014/main" id="{BE0D04A7-8246-88A8-1312-517F4D252F94}"/>
              </a:ext>
            </a:extLst>
          </p:cNvPr>
          <p:cNvSpPr>
            <a:spLocks noGrp="1"/>
          </p:cNvSpPr>
          <p:nvPr>
            <p:ph idx="1"/>
          </p:nvPr>
        </p:nvSpPr>
        <p:spPr>
          <a:xfrm>
            <a:off x="2231136" y="2638044"/>
            <a:ext cx="7729728" cy="3879488"/>
          </a:xfrm>
        </p:spPr>
        <p:txBody>
          <a:bodyPr>
            <a:normAutofit fontScale="85000" lnSpcReduction="10000"/>
          </a:bodyPr>
          <a:lstStyle/>
          <a:p>
            <a:pPr marL="0" indent="0">
              <a:buNone/>
            </a:pPr>
            <a:r>
              <a:rPr lang="en-US" dirty="0"/>
              <a:t>Hypothesis Test: Compare Mean Charging Duration Between Two Groups (Fast vs Slow Charging)</a:t>
            </a:r>
          </a:p>
          <a:p>
            <a:pPr marL="0" indent="0">
              <a:buNone/>
            </a:pPr>
            <a:r>
              <a:rPr lang="en-US" dirty="0"/>
              <a:t>Fast and Slow charging distributions are not normal, so will calculate Mann-Whitney U Test.</a:t>
            </a:r>
          </a:p>
          <a:p>
            <a:pPr marL="0" indent="0">
              <a:buNone/>
            </a:pPr>
            <a:endParaRPr lang="en-US" dirty="0"/>
          </a:p>
          <a:p>
            <a:pPr marL="0" indent="0">
              <a:buNone/>
            </a:pPr>
            <a:r>
              <a:rPr lang="en-US" dirty="0"/>
              <a:t>Shapiro-Wilk Test for Fast Charging: </a:t>
            </a:r>
          </a:p>
          <a:p>
            <a:r>
              <a:rPr lang="en-US" dirty="0"/>
              <a:t>statistic = 0.9613616733923821, </a:t>
            </a:r>
            <a:r>
              <a:rPr lang="en-US" dirty="0" err="1"/>
              <a:t>pvalue</a:t>
            </a:r>
            <a:r>
              <a:rPr lang="en-US" dirty="0"/>
              <a:t> = 1.7799658070056005e-07</a:t>
            </a:r>
          </a:p>
          <a:p>
            <a:pPr marL="0" indent="0">
              <a:buNone/>
            </a:pPr>
            <a:r>
              <a:rPr lang="en-US" dirty="0"/>
              <a:t>Shapiro-Wilk Test for Slow Charging: </a:t>
            </a:r>
          </a:p>
          <a:p>
            <a:r>
              <a:rPr lang="en-US" dirty="0"/>
              <a:t>statistic = 0.9495564883791464, </a:t>
            </a:r>
            <a:r>
              <a:rPr lang="en-US" dirty="0" err="1"/>
              <a:t>pvalue</a:t>
            </a:r>
            <a:r>
              <a:rPr lang="en-US" dirty="0"/>
              <a:t> = 2.0883805080680235e-09</a:t>
            </a:r>
          </a:p>
          <a:p>
            <a:pPr marL="0" indent="0">
              <a:buNone/>
            </a:pPr>
            <a:r>
              <a:rPr lang="en-US" dirty="0"/>
              <a:t>Mann-Whitney U Test Result: </a:t>
            </a:r>
          </a:p>
          <a:p>
            <a:r>
              <a:rPr lang="en-US" dirty="0"/>
              <a:t>statistic = 52557.0, </a:t>
            </a:r>
            <a:r>
              <a:rPr lang="en-US" b="1" dirty="0" err="1"/>
              <a:t>pvalue</a:t>
            </a:r>
            <a:r>
              <a:rPr lang="en-US" b="1" dirty="0"/>
              <a:t> = 0.45420951561271117</a:t>
            </a:r>
          </a:p>
          <a:p>
            <a:pPr marL="0" indent="0">
              <a:buNone/>
            </a:pPr>
            <a:r>
              <a:rPr lang="en-US" dirty="0"/>
              <a:t>The </a:t>
            </a:r>
            <a:r>
              <a:rPr lang="en-US" dirty="0" err="1"/>
              <a:t>pvalue</a:t>
            </a:r>
            <a:r>
              <a:rPr lang="en-US" dirty="0"/>
              <a:t> of .454 means there is no statistically significant different in charging duration between Fast and Slow charging modes.</a:t>
            </a:r>
          </a:p>
        </p:txBody>
      </p:sp>
    </p:spTree>
    <p:extLst>
      <p:ext uri="{BB962C8B-B14F-4D97-AF65-F5344CB8AC3E}">
        <p14:creationId xmlns:p14="http://schemas.microsoft.com/office/powerpoint/2010/main" val="16871603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65005-84A4-89FC-7EAC-C58A7DA86A13}"/>
              </a:ext>
            </a:extLst>
          </p:cNvPr>
          <p:cNvSpPr>
            <a:spLocks noGrp="1"/>
          </p:cNvSpPr>
          <p:nvPr>
            <p:ph type="title"/>
          </p:nvPr>
        </p:nvSpPr>
        <p:spPr/>
        <p:txBody>
          <a:bodyPr>
            <a:normAutofit/>
          </a:bodyPr>
          <a:lstStyle/>
          <a:p>
            <a:pPr>
              <a:spcAft>
                <a:spcPts val="0"/>
              </a:spcAft>
            </a:pPr>
            <a:r>
              <a:rPr lang="en-US" dirty="0"/>
              <a:t>regression analysis</a:t>
            </a:r>
          </a:p>
        </p:txBody>
      </p:sp>
      <p:sp>
        <p:nvSpPr>
          <p:cNvPr id="5" name="TextBox 4">
            <a:extLst>
              <a:ext uri="{FF2B5EF4-FFF2-40B4-BE49-F238E27FC236}">
                <a16:creationId xmlns:a16="http://schemas.microsoft.com/office/drawing/2014/main" id="{CBBC8390-F163-5C73-4561-7F970BBF2E20}"/>
              </a:ext>
            </a:extLst>
          </p:cNvPr>
          <p:cNvSpPr txBox="1"/>
          <p:nvPr/>
        </p:nvSpPr>
        <p:spPr>
          <a:xfrm>
            <a:off x="6096000" y="2241352"/>
            <a:ext cx="5872899" cy="4616648"/>
          </a:xfrm>
          <a:prstGeom prst="rect">
            <a:avLst/>
          </a:prstGeom>
          <a:noFill/>
        </p:spPr>
        <p:txBody>
          <a:bodyPr wrap="square">
            <a:spAutoFit/>
          </a:bodyPr>
          <a:lstStyle/>
          <a:p>
            <a:r>
              <a:rPr lang="en-US" sz="1400" dirty="0"/>
              <a:t>OLS Regression Results </a:t>
            </a:r>
          </a:p>
          <a:p>
            <a:r>
              <a:rPr lang="en-US" sz="1400" dirty="0"/>
              <a:t>======================================== </a:t>
            </a:r>
          </a:p>
          <a:p>
            <a:r>
              <a:rPr lang="en-US" sz="1400" dirty="0"/>
              <a:t>Dep. Variable: </a:t>
            </a:r>
            <a:r>
              <a:rPr lang="en-US" sz="1400" dirty="0" err="1"/>
              <a:t>charging_duration_min</a:t>
            </a:r>
            <a:r>
              <a:rPr lang="en-US" sz="1400" dirty="0"/>
              <a:t>    	R-squared: 0.000 </a:t>
            </a:r>
          </a:p>
          <a:p>
            <a:r>
              <a:rPr lang="en-US" sz="1400" dirty="0"/>
              <a:t>Model: OLS 						Adj. R-squared: -0.001 </a:t>
            </a:r>
          </a:p>
          <a:p>
            <a:r>
              <a:rPr lang="en-US" sz="1400" dirty="0"/>
              <a:t>Method: Least Squares 				F-statistic: 0.4136 </a:t>
            </a:r>
          </a:p>
          <a:p>
            <a:r>
              <a:rPr lang="en-US" sz="1400" dirty="0"/>
              <a:t>Date: Sat, 15 Mar 2025 				Prob (F-statistic): 0.520 </a:t>
            </a:r>
          </a:p>
          <a:p>
            <a:r>
              <a:rPr lang="en-US" sz="1400" dirty="0"/>
              <a:t>Time: 11:03:39 					Log-Likelihood: -4782.7 </a:t>
            </a:r>
          </a:p>
          <a:p>
            <a:r>
              <a:rPr lang="en-US" sz="1400" dirty="0"/>
              <a:t>No. Observations: 1000 				AIC: 9569. </a:t>
            </a:r>
          </a:p>
          <a:p>
            <a:r>
              <a:rPr lang="en-US" sz="1400" dirty="0" err="1"/>
              <a:t>Df</a:t>
            </a:r>
            <a:r>
              <a:rPr lang="en-US" sz="1400" dirty="0"/>
              <a:t> Residuals: 998 					BIC: 9579. </a:t>
            </a:r>
          </a:p>
          <a:p>
            <a:r>
              <a:rPr lang="en-US" sz="1400" dirty="0" err="1"/>
              <a:t>Df</a:t>
            </a:r>
            <a:r>
              <a:rPr lang="en-US" sz="1400" dirty="0"/>
              <a:t> Model: 1 </a:t>
            </a:r>
          </a:p>
          <a:p>
            <a:r>
              <a:rPr lang="en-US" sz="1400" dirty="0"/>
              <a:t>Covariance Type: </a:t>
            </a:r>
            <a:r>
              <a:rPr lang="en-US" sz="1400" dirty="0" err="1"/>
              <a:t>nonrobust</a:t>
            </a:r>
            <a:r>
              <a:rPr lang="en-US" sz="1400" dirty="0"/>
              <a:t> </a:t>
            </a:r>
          </a:p>
          <a:p>
            <a:r>
              <a:rPr lang="en-US" sz="1400" dirty="0"/>
              <a:t>======================================== </a:t>
            </a:r>
          </a:p>
          <a:p>
            <a:r>
              <a:rPr lang="en-US" sz="1400" dirty="0"/>
              <a:t>			</a:t>
            </a:r>
            <a:r>
              <a:rPr lang="en-US" sz="1400" dirty="0" err="1"/>
              <a:t>coef</a:t>
            </a:r>
            <a:r>
              <a:rPr lang="en-US" sz="1400" dirty="0"/>
              <a:t> 		std err 	t 		P&gt;|t| 	[0.025 0.975] </a:t>
            </a:r>
          </a:p>
          <a:p>
            <a:r>
              <a:rPr lang="en-US" sz="1400" dirty="0"/>
              <a:t>----------------------------------------------------------------------- </a:t>
            </a:r>
          </a:p>
          <a:p>
            <a:r>
              <a:rPr lang="en-US" sz="1400" dirty="0"/>
              <a:t>const 		71.0888 	2.137 	33.259 	0.000 		66.894 75.283 </a:t>
            </a:r>
          </a:p>
          <a:p>
            <a:r>
              <a:rPr lang="en-US" sz="1400" dirty="0" err="1"/>
              <a:t>current_a</a:t>
            </a:r>
            <a:r>
              <a:rPr lang="en-US" sz="1400" dirty="0"/>
              <a:t> 	-0.0225 	0.035 	-0.643 	0.520 		-0.091 0.046 ================================================ </a:t>
            </a:r>
          </a:p>
          <a:p>
            <a:r>
              <a:rPr lang="en-US" sz="1400" dirty="0"/>
              <a:t>Omnibus: 644.127 					Durbin-Watson: 2.056 </a:t>
            </a:r>
          </a:p>
          <a:p>
            <a:r>
              <a:rPr lang="en-US" sz="1400" dirty="0"/>
              <a:t>Prob(Omnibus): 0.000 				Jarque-</a:t>
            </a:r>
            <a:r>
              <a:rPr lang="en-US" sz="1400" dirty="0" err="1"/>
              <a:t>Bera</a:t>
            </a:r>
            <a:r>
              <a:rPr lang="en-US" sz="1400" dirty="0"/>
              <a:t> (JB): 58.499 </a:t>
            </a:r>
          </a:p>
          <a:p>
            <a:r>
              <a:rPr lang="en-US" sz="1400" dirty="0"/>
              <a:t>Skew: 0.034 						Prob(JB): 1.98e-13 </a:t>
            </a:r>
          </a:p>
          <a:p>
            <a:r>
              <a:rPr lang="en-US" sz="1400" dirty="0"/>
              <a:t>Kurtosis: 1.817 					Cond. No. 143. </a:t>
            </a:r>
          </a:p>
        </p:txBody>
      </p:sp>
      <p:sp>
        <p:nvSpPr>
          <p:cNvPr id="3" name="TextBox 2">
            <a:extLst>
              <a:ext uri="{FF2B5EF4-FFF2-40B4-BE49-F238E27FC236}">
                <a16:creationId xmlns:a16="http://schemas.microsoft.com/office/drawing/2014/main" id="{B11F41C1-A029-D9D7-949D-6ED6D2664FD3}"/>
              </a:ext>
            </a:extLst>
          </p:cNvPr>
          <p:cNvSpPr txBox="1"/>
          <p:nvPr/>
        </p:nvSpPr>
        <p:spPr>
          <a:xfrm>
            <a:off x="1092741" y="2241352"/>
            <a:ext cx="5003259" cy="2246769"/>
          </a:xfrm>
          <a:prstGeom prst="rect">
            <a:avLst/>
          </a:prstGeom>
          <a:noFill/>
        </p:spPr>
        <p:txBody>
          <a:bodyPr wrap="square">
            <a:spAutoFit/>
          </a:bodyPr>
          <a:lstStyle/>
          <a:p>
            <a:r>
              <a:rPr lang="en-US" sz="1400" dirty="0"/>
              <a:t>Dependent Variable: Charging Duration (min)</a:t>
            </a:r>
          </a:p>
          <a:p>
            <a:r>
              <a:rPr lang="en-US" sz="1400" dirty="0"/>
              <a:t>Explanatory Variable: Current (amps)</a:t>
            </a:r>
          </a:p>
          <a:p>
            <a:endParaRPr lang="en-US" sz="1400" dirty="0"/>
          </a:p>
          <a:p>
            <a:r>
              <a:rPr lang="en-US" sz="1400" dirty="0"/>
              <a:t>R-squared, Adj R-squared, F-statistic, and Prob(F-statistic) show that the current (in amperes) flowing into the battery during the charging process does not contribute to the explaining the variation in charging duration at all.</a:t>
            </a:r>
          </a:p>
          <a:p>
            <a:endParaRPr lang="en-US" sz="1400" dirty="0"/>
          </a:p>
          <a:p>
            <a:r>
              <a:rPr lang="en-US" sz="1400" dirty="0"/>
              <a:t>The independent variable of Current does not have a meaningful relationship with Charging Duration.</a:t>
            </a:r>
          </a:p>
        </p:txBody>
      </p:sp>
    </p:spTree>
    <p:extLst>
      <p:ext uri="{BB962C8B-B14F-4D97-AF65-F5344CB8AC3E}">
        <p14:creationId xmlns:p14="http://schemas.microsoft.com/office/powerpoint/2010/main" val="4083377414"/>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docProps/app.xml><?xml version="1.0" encoding="utf-8"?>
<Properties xmlns="http://schemas.openxmlformats.org/officeDocument/2006/extended-properties" xmlns:vt="http://schemas.openxmlformats.org/officeDocument/2006/docPropsVTypes">
  <Template/>
  <TotalTime>9113</TotalTime>
  <Words>1264</Words>
  <Application>Microsoft Macintosh PowerPoint</Application>
  <PresentationFormat>Widescreen</PresentationFormat>
  <Paragraphs>122</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Gill Sans MT</vt:lpstr>
      <vt:lpstr>Parcel</vt:lpstr>
      <vt:lpstr>Charging impacts for electric vehicles</vt:lpstr>
      <vt:lpstr>What can EV consumers learn about battery charging?</vt:lpstr>
      <vt:lpstr>Dataset</vt:lpstr>
      <vt:lpstr>Targeted Dataset variables</vt:lpstr>
      <vt:lpstr>State of charge</vt:lpstr>
      <vt:lpstr>Battery temperature (°C)</vt:lpstr>
      <vt:lpstr>Ambient temperature (°C)</vt:lpstr>
      <vt:lpstr>Charging duration (min)</vt:lpstr>
      <vt:lpstr>Degradation rate %</vt:lpstr>
      <vt:lpstr>Charging cycles</vt:lpstr>
      <vt:lpstr>compare two scenarios in your data using a PMF</vt:lpstr>
      <vt:lpstr>Create a CDF with one of your variables</vt:lpstr>
      <vt:lpstr> analytical distribution </vt:lpstr>
      <vt:lpstr>Create two scatter plots comparing two variables and provide your analysis</vt:lpstr>
      <vt:lpstr>Create two scatter plots comparing two variables and provide your analysis</vt:lpstr>
      <vt:lpstr>Hypothesis test</vt:lpstr>
      <vt:lpstr>regression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Leo Luera</dc:creator>
  <cp:lastModifiedBy>Leo Luera</cp:lastModifiedBy>
  <cp:revision>9</cp:revision>
  <dcterms:created xsi:type="dcterms:W3CDTF">2025-03-08T16:47:42Z</dcterms:created>
  <dcterms:modified xsi:type="dcterms:W3CDTF">2025-03-15T19:38:03Z</dcterms:modified>
</cp:coreProperties>
</file>